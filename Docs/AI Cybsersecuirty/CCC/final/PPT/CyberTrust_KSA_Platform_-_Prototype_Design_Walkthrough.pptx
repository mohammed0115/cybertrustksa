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140516"/>
            <a:ext cx="428625" cy="4286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240529"/>
            <a:ext cx="228600" cy="228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1500" y="1712016"/>
            <a:ext cx="1934561" cy="250031"/>
          </a:xfrm>
          <a:prstGeom prst="round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787026"/>
            <a:ext cx="112514" cy="10001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6889" y="1769166"/>
            <a:ext cx="15362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Prototype Design Walkthrough</a:t>
            </a:r>
            <a:endParaRPr lang="en-US" sz="683" dirty="0"/>
          </a:p>
        </p:txBody>
      </p:sp>
      <p:sp>
        <p:nvSpPr>
          <p:cNvPr id="8" name="Text 3"/>
          <p:cNvSpPr/>
          <p:nvPr/>
        </p:nvSpPr>
        <p:spPr>
          <a:xfrm>
            <a:off x="571500" y="2390673"/>
            <a:ext cx="2800350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CyberTrust KSA Platform</a:t>
            </a:r>
            <a:endParaRPr lang="en-US" sz="2862" dirty="0"/>
          </a:p>
        </p:txBody>
      </p:sp>
      <p:sp>
        <p:nvSpPr>
          <p:cNvPr id="9" name="Text 4"/>
          <p:cNvSpPr/>
          <p:nvPr/>
        </p:nvSpPr>
        <p:spPr>
          <a:xfrm>
            <a:off x="571500" y="3413624"/>
            <a:ext cx="2800350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95000"/>
                  </a:srgbClr>
                </a:solidFill>
              </a:rPr>
              <a:t>منصة الأمان السيبراني السعودية</a:t>
            </a:r>
            <a:endParaRPr lang="en-US" sz="2436" dirty="0"/>
          </a:p>
        </p:txBody>
      </p:sp>
      <p:sp>
        <p:nvSpPr>
          <p:cNvPr id="10" name="Shape 5"/>
          <p:cNvSpPr/>
          <p:nvPr/>
        </p:nvSpPr>
        <p:spPr>
          <a:xfrm>
            <a:off x="3864769" y="1418341"/>
            <a:ext cx="4643438" cy="25925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769" y="1418341"/>
            <a:ext cx="4643438" cy="259256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950494" y="3675152"/>
            <a:ext cx="4471988" cy="250031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827" y="3750162"/>
            <a:ext cx="87511" cy="1000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20488" y="3732302"/>
            <a:ext cx="7573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February 2026 |</a:t>
            </a:r>
            <a:endParaRPr lang="en-US" sz="727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959" y="3750162"/>
            <a:ext cx="125016" cy="1000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417125" y="3732302"/>
            <a:ext cx="6799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Prototype v1.0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32309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357188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User Journey Overview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5 Key Scenarios from Sign-Up to NCA Certification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28625" y="1760934"/>
            <a:ext cx="1268741" cy="2660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884402" y="1975247"/>
            <a:ext cx="357188" cy="3571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884402" y="1975247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6" y="2539603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500" y="3084314"/>
            <a:ext cx="982991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User Authentication &amp; Onboarding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571500" y="3671497"/>
            <a:ext cx="982991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Secure login with MFA, bilingual interface, and 30-minute guided onboarding process</a:t>
            </a:r>
            <a:endParaRPr lang="en-US" sz="727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241" y="3411838"/>
            <a:ext cx="200025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183141" y="1760934"/>
            <a:ext cx="1268741" cy="2810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2638918" y="1975247"/>
            <a:ext cx="357188" cy="3571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0"/>
          <p:cNvSpPr/>
          <p:nvPr/>
        </p:nvSpPr>
        <p:spPr>
          <a:xfrm>
            <a:off x="2638918" y="1975247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630" y="2539603"/>
            <a:ext cx="385763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326016" y="3084314"/>
            <a:ext cx="982991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Compliance Dashboard Overview</a:t>
            </a:r>
            <a:endParaRPr lang="en-US" sz="885" dirty="0"/>
          </a:p>
        </p:txBody>
      </p:sp>
      <p:sp>
        <p:nvSpPr>
          <p:cNvPr id="18" name="Text 12"/>
          <p:cNvSpPr/>
          <p:nvPr/>
        </p:nvSpPr>
        <p:spPr>
          <a:xfrm>
            <a:off x="2326016" y="3671497"/>
            <a:ext cx="982991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Real-time compliance score, control status tracking, and actionable insights at a glance</a:t>
            </a:r>
            <a:endParaRPr lang="en-US" sz="727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757" y="3411838"/>
            <a:ext cx="200025" cy="2286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3937657" y="1760934"/>
            <a:ext cx="1268741" cy="26435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4"/>
          <p:cNvSpPr/>
          <p:nvPr/>
        </p:nvSpPr>
        <p:spPr>
          <a:xfrm>
            <a:off x="4393434" y="1975247"/>
            <a:ext cx="357188" cy="3571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15"/>
          <p:cNvSpPr/>
          <p:nvPr/>
        </p:nvSpPr>
        <p:spPr>
          <a:xfrm>
            <a:off x="4393434" y="1975247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578" y="2539603"/>
            <a:ext cx="342900" cy="3429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080532" y="3084314"/>
            <a:ext cx="98299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Gap Analysis &amp; Assessment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4080532" y="3504344"/>
            <a:ext cx="982991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AI-powered gap identification across 65 NCA controls with prioritized remediation roadmap</a:t>
            </a:r>
            <a:endParaRPr lang="en-US" sz="727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73" y="3411838"/>
            <a:ext cx="200025" cy="2286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692173" y="1760934"/>
            <a:ext cx="1268741" cy="26435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19"/>
          <p:cNvSpPr/>
          <p:nvPr/>
        </p:nvSpPr>
        <p:spPr>
          <a:xfrm>
            <a:off x="6147950" y="1975247"/>
            <a:ext cx="357188" cy="3571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0"/>
          <p:cNvSpPr/>
          <p:nvPr/>
        </p:nvSpPr>
        <p:spPr>
          <a:xfrm>
            <a:off x="6147950" y="1975247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4</a:t>
            </a:r>
            <a:endParaRPr lang="en-US" sz="1193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2232" y="2539603"/>
            <a:ext cx="428625" cy="3429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835048" y="3084314"/>
            <a:ext cx="98299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Virtual CISO Interaction</a:t>
            </a:r>
            <a:endParaRPr lang="en-US" sz="885" dirty="0"/>
          </a:p>
        </p:txBody>
      </p:sp>
      <p:sp>
        <p:nvSpPr>
          <p:cNvPr id="32" name="Text 22"/>
          <p:cNvSpPr/>
          <p:nvPr/>
        </p:nvSpPr>
        <p:spPr>
          <a:xfrm>
            <a:off x="5835048" y="3504344"/>
            <a:ext cx="982991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24/7 AI chatbot for compliance guidance, policy generation, and expert recommendations</a:t>
            </a:r>
            <a:endParaRPr lang="en-US" sz="727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3790" y="3411838"/>
            <a:ext cx="200025" cy="228600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7446690" y="1760934"/>
            <a:ext cx="1268741" cy="2660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4"/>
          <p:cNvSpPr/>
          <p:nvPr/>
        </p:nvSpPr>
        <p:spPr>
          <a:xfrm>
            <a:off x="7902466" y="1975247"/>
            <a:ext cx="357188" cy="3571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25"/>
          <p:cNvSpPr/>
          <p:nvPr/>
        </p:nvSpPr>
        <p:spPr>
          <a:xfrm>
            <a:off x="7902466" y="1975247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5</a:t>
            </a:r>
            <a:endParaRPr lang="en-US" sz="1193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6748" y="2539603"/>
            <a:ext cx="428625" cy="34290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589565" y="3084314"/>
            <a:ext cx="982991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Cloud Integration Management</a:t>
            </a:r>
            <a:endParaRPr lang="en-US" sz="885" dirty="0"/>
          </a:p>
        </p:txBody>
      </p:sp>
      <p:sp>
        <p:nvSpPr>
          <p:cNvPr id="39" name="Text 27"/>
          <p:cNvSpPr/>
          <p:nvPr/>
        </p:nvSpPr>
        <p:spPr>
          <a:xfrm>
            <a:off x="7589565" y="3671497"/>
            <a:ext cx="982991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Connect 50+ cloud platforms for automated evidence collection every 15 minutes</a:t>
            </a:r>
            <a:endParaRPr lang="en-US" sz="727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9346" y="4875219"/>
            <a:ext cx="100013" cy="100013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2729359" y="4857359"/>
            <a:ext cx="37852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Each scenario demonstrates key platform capabilities with actual UI screenshots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970350" cy="250031"/>
          </a:xfrm>
          <a:prstGeom prst="roundRect">
            <a:avLst/>
          </a:prstGeom>
          <a:solidFill>
            <a:srgbClr val="05966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503634"/>
            <a:ext cx="100013" cy="100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0088" y="485775"/>
            <a:ext cx="5845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SCENARIO 1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428625" y="850106"/>
            <a:ext cx="2943225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293B"/>
                </a:solidFill>
              </a:rPr>
              <a:t>User Authentication &amp; Onboarding</a:t>
            </a:r>
            <a:endParaRPr lang="en-US" sz="1808" dirty="0"/>
          </a:p>
        </p:txBody>
      </p:sp>
      <p:sp>
        <p:nvSpPr>
          <p:cNvPr id="8" name="Text 4"/>
          <p:cNvSpPr/>
          <p:nvPr/>
        </p:nvSpPr>
        <p:spPr>
          <a:xfrm>
            <a:off x="428625" y="1610190"/>
            <a:ext cx="29432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Secure entry point to the CyberTrust KSA platform with multi-factor authentication, bilingual interface support, and guided 30-minute onboarding process.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428625" y="2373092"/>
            <a:ext cx="29432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Key Features Demonstrated: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428625" y="2676702"/>
            <a:ext cx="171450" cy="17145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2719564"/>
            <a:ext cx="85725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2662414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Multi-Factor Authentication: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OAuth 2.0 with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TOTP/SMS verification for enhanced security</a:t>
            </a:r>
            <a:endParaRPr lang="en-US" sz="734" dirty="0"/>
          </a:p>
        </p:txBody>
      </p:sp>
      <p:sp>
        <p:nvSpPr>
          <p:cNvPr id="13" name="Shape 8"/>
          <p:cNvSpPr/>
          <p:nvPr/>
        </p:nvSpPr>
        <p:spPr>
          <a:xfrm>
            <a:off x="428625" y="3098183"/>
            <a:ext cx="171450" cy="17145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8" y="3141045"/>
            <a:ext cx="85725" cy="857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3083895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Bilingual Support: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Seamless switching between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English and Arabic interfaces</a:t>
            </a:r>
            <a:endParaRPr lang="en-US" sz="734" dirty="0"/>
          </a:p>
        </p:txBody>
      </p:sp>
      <p:sp>
        <p:nvSpPr>
          <p:cNvPr id="16" name="Shape 10"/>
          <p:cNvSpPr/>
          <p:nvPr/>
        </p:nvSpPr>
        <p:spPr>
          <a:xfrm>
            <a:off x="428625" y="3519664"/>
            <a:ext cx="171450" cy="17145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8" y="3562527"/>
            <a:ext cx="85725" cy="857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5800" y="3505377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SSO Integration: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SAML 2.0 and OpenID Connect for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enterprise authentication</a:t>
            </a:r>
            <a:endParaRPr lang="en-US" sz="734" dirty="0"/>
          </a:p>
        </p:txBody>
      </p:sp>
      <p:sp>
        <p:nvSpPr>
          <p:cNvPr id="19" name="Shape 12"/>
          <p:cNvSpPr/>
          <p:nvPr/>
        </p:nvSpPr>
        <p:spPr>
          <a:xfrm>
            <a:off x="428625" y="3941145"/>
            <a:ext cx="171450" cy="17145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8" y="3984008"/>
            <a:ext cx="85725" cy="857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" y="3926858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Guided Onboarding: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Step-by-step setup wizard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completing in 30 minutes</a:t>
            </a:r>
            <a:endParaRPr lang="en-US" sz="734" dirty="0"/>
          </a:p>
        </p:txBody>
      </p:sp>
      <p:sp>
        <p:nvSpPr>
          <p:cNvPr id="22" name="Shape 14"/>
          <p:cNvSpPr/>
          <p:nvPr/>
        </p:nvSpPr>
        <p:spPr>
          <a:xfrm>
            <a:off x="428625" y="4362627"/>
            <a:ext cx="171450" cy="17145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8" y="4405489"/>
            <a:ext cx="85725" cy="857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5800" y="4348339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Role-Based Access: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Customizable permissions for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CISO, compliance officers, and auditors</a:t>
            </a:r>
            <a:endParaRPr lang="en-US" sz="734" dirty="0"/>
          </a:p>
        </p:txBody>
      </p:sp>
      <p:sp>
        <p:nvSpPr>
          <p:cNvPr id="25" name="Shape 16"/>
          <p:cNvSpPr/>
          <p:nvPr/>
        </p:nvSpPr>
        <p:spPr>
          <a:xfrm>
            <a:off x="4186238" y="1589484"/>
            <a:ext cx="4286250" cy="23931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6238" y="1589484"/>
            <a:ext cx="4286250" cy="23931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50169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285750"/>
            <a:ext cx="843967" cy="201811"/>
          </a:xfrm>
          <a:prstGeom prst="round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343793"/>
            <a:ext cx="85725" cy="857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1513" y="328613"/>
            <a:ext cx="5010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SCENARIO 2</a:t>
            </a:r>
            <a:endParaRPr lang="en-US" sz="584" dirty="0"/>
          </a:p>
        </p:txBody>
      </p:sp>
      <p:sp>
        <p:nvSpPr>
          <p:cNvPr id="7" name="Text 3"/>
          <p:cNvSpPr/>
          <p:nvPr/>
        </p:nvSpPr>
        <p:spPr>
          <a:xfrm>
            <a:off x="428625" y="573286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Compliance Dashboard Overview</a:t>
            </a:r>
            <a:endParaRPr lang="en-US" sz="1808" dirty="0"/>
          </a:p>
        </p:txBody>
      </p:sp>
      <p:sp>
        <p:nvSpPr>
          <p:cNvPr id="8" name="Text 4"/>
          <p:cNvSpPr/>
          <p:nvPr/>
        </p:nvSpPr>
        <p:spPr>
          <a:xfrm>
            <a:off x="428625" y="980480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90000"/>
                  </a:srgbClr>
                </a:solidFill>
              </a:rPr>
              <a:t>Real-time monitoring of compliance status, controls, and evidence collection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428625" y="1635919"/>
            <a:ext cx="1964531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1807369"/>
            <a:ext cx="1678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Compliance Score</a:t>
            </a:r>
            <a:endParaRPr lang="en-US" sz="634" dirty="0"/>
          </a:p>
        </p:txBody>
      </p:sp>
      <p:sp>
        <p:nvSpPr>
          <p:cNvPr id="11" name="Text 7"/>
          <p:cNvSpPr/>
          <p:nvPr/>
        </p:nvSpPr>
        <p:spPr>
          <a:xfrm>
            <a:off x="571500" y="2019895"/>
            <a:ext cx="167878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59669"/>
                </a:solidFill>
              </a:rPr>
              <a:t>87%</a:t>
            </a:r>
            <a:endParaRPr lang="en-US" sz="2121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6386"/>
            <a:ext cx="58936" cy="785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436" y="2486025"/>
            <a:ext cx="66902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+5% this week</a:t>
            </a:r>
            <a:endParaRPr lang="en-US" sz="634" dirty="0"/>
          </a:p>
        </p:txBody>
      </p:sp>
      <p:sp>
        <p:nvSpPr>
          <p:cNvPr id="14" name="Shape 9"/>
          <p:cNvSpPr/>
          <p:nvPr/>
        </p:nvSpPr>
        <p:spPr>
          <a:xfrm>
            <a:off x="2536031" y="1635919"/>
            <a:ext cx="1964531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2678906" y="1807369"/>
            <a:ext cx="1678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Total Controls</a:t>
            </a:r>
            <a:endParaRPr lang="en-US" sz="634" dirty="0"/>
          </a:p>
        </p:txBody>
      </p:sp>
      <p:sp>
        <p:nvSpPr>
          <p:cNvPr id="16" name="Text 11"/>
          <p:cNvSpPr/>
          <p:nvPr/>
        </p:nvSpPr>
        <p:spPr>
          <a:xfrm>
            <a:off x="2678906" y="2019895"/>
            <a:ext cx="167878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E40AF"/>
                </a:solidFill>
              </a:rPr>
              <a:t>65</a:t>
            </a:r>
            <a:endParaRPr lang="en-US" sz="2121" dirty="0"/>
          </a:p>
        </p:txBody>
      </p:sp>
      <p:sp>
        <p:nvSpPr>
          <p:cNvPr id="17" name="Text 12"/>
          <p:cNvSpPr/>
          <p:nvPr/>
        </p:nvSpPr>
        <p:spPr>
          <a:xfrm>
            <a:off x="2678906" y="2486025"/>
            <a:ext cx="1678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NCA ECC Framework</a:t>
            </a:r>
            <a:endParaRPr lang="en-US" sz="634" dirty="0"/>
          </a:p>
        </p:txBody>
      </p:sp>
      <p:sp>
        <p:nvSpPr>
          <p:cNvPr id="18" name="Shape 13"/>
          <p:cNvSpPr/>
          <p:nvPr/>
        </p:nvSpPr>
        <p:spPr>
          <a:xfrm>
            <a:off x="4643438" y="1635919"/>
            <a:ext cx="1964531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4"/>
          <p:cNvSpPr/>
          <p:nvPr/>
        </p:nvSpPr>
        <p:spPr>
          <a:xfrm>
            <a:off x="4786313" y="1807369"/>
            <a:ext cx="1678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Gaps Identified</a:t>
            </a:r>
            <a:endParaRPr lang="en-US" sz="634" dirty="0"/>
          </a:p>
        </p:txBody>
      </p:sp>
      <p:sp>
        <p:nvSpPr>
          <p:cNvPr id="20" name="Text 15"/>
          <p:cNvSpPr/>
          <p:nvPr/>
        </p:nvSpPr>
        <p:spPr>
          <a:xfrm>
            <a:off x="4786313" y="2019895"/>
            <a:ext cx="167878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59E0B"/>
                </a:solidFill>
              </a:rPr>
              <a:t>8</a:t>
            </a:r>
            <a:endParaRPr lang="en-US" sz="2121" dirty="0"/>
          </a:p>
        </p:txBody>
      </p:sp>
      <p:sp>
        <p:nvSpPr>
          <p:cNvPr id="21" name="Text 16"/>
          <p:cNvSpPr/>
          <p:nvPr/>
        </p:nvSpPr>
        <p:spPr>
          <a:xfrm>
            <a:off x="4786313" y="2486025"/>
            <a:ext cx="1678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4 high priority</a:t>
            </a:r>
            <a:endParaRPr lang="en-US" sz="634" dirty="0"/>
          </a:p>
        </p:txBody>
      </p:sp>
      <p:sp>
        <p:nvSpPr>
          <p:cNvPr id="22" name="Shape 17"/>
          <p:cNvSpPr/>
          <p:nvPr/>
        </p:nvSpPr>
        <p:spPr>
          <a:xfrm>
            <a:off x="6750844" y="1635919"/>
            <a:ext cx="1964531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6893719" y="1807369"/>
            <a:ext cx="1678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Evidence Collected</a:t>
            </a:r>
            <a:endParaRPr lang="en-US" sz="634" dirty="0"/>
          </a:p>
        </p:txBody>
      </p:sp>
      <p:sp>
        <p:nvSpPr>
          <p:cNvPr id="24" name="Text 19"/>
          <p:cNvSpPr/>
          <p:nvPr/>
        </p:nvSpPr>
        <p:spPr>
          <a:xfrm>
            <a:off x="6893719" y="2019895"/>
            <a:ext cx="167878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8B5CF6"/>
                </a:solidFill>
              </a:rPr>
              <a:t>1,247</a:t>
            </a:r>
            <a:endParaRPr lang="en-US" sz="2121" dirty="0"/>
          </a:p>
        </p:txBody>
      </p:sp>
      <p:sp>
        <p:nvSpPr>
          <p:cNvPr id="25" name="Text 20"/>
          <p:cNvSpPr/>
          <p:nvPr/>
        </p:nvSpPr>
        <p:spPr>
          <a:xfrm>
            <a:off x="6893719" y="2486025"/>
            <a:ext cx="16787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Auto-collected 24/7</a:t>
            </a:r>
            <a:endParaRPr lang="en-US" sz="634" dirty="0"/>
          </a:p>
        </p:txBody>
      </p:sp>
      <p:sp>
        <p:nvSpPr>
          <p:cNvPr id="26" name="Shape 21"/>
          <p:cNvSpPr/>
          <p:nvPr/>
        </p:nvSpPr>
        <p:spPr>
          <a:xfrm>
            <a:off x="428625" y="2850356"/>
            <a:ext cx="4036219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3037880"/>
            <a:ext cx="142875" cy="1428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14388" y="3021806"/>
            <a:ext cx="13868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Real-Time Monitoring</a:t>
            </a:r>
            <a:endParaRPr lang="en-US" sz="885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3336131"/>
            <a:ext cx="114300" cy="857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5813" y="3311128"/>
            <a:ext cx="22777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Live compliance score updated every 15 minutes</a:t>
            </a:r>
            <a:endParaRPr lang="en-US" sz="727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3557588"/>
            <a:ext cx="114300" cy="857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5813" y="3532584"/>
            <a:ext cx="23022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Control status tracking across all 65 NCA controls</a:t>
            </a:r>
            <a:endParaRPr lang="en-US" sz="727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3779044"/>
            <a:ext cx="114300" cy="857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85813" y="3754041"/>
            <a:ext cx="20896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Instant drift detection with automated alerts</a:t>
            </a:r>
            <a:endParaRPr lang="en-US" sz="727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4000500"/>
            <a:ext cx="114300" cy="8572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85813" y="3975497"/>
            <a:ext cx="2208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Historical trend analysis and predictive insights</a:t>
            </a:r>
            <a:endParaRPr lang="en-US" sz="727" dirty="0"/>
          </a:p>
        </p:txBody>
      </p:sp>
      <p:sp>
        <p:nvSpPr>
          <p:cNvPr id="37" name="Shape 27"/>
          <p:cNvSpPr/>
          <p:nvPr/>
        </p:nvSpPr>
        <p:spPr>
          <a:xfrm>
            <a:off x="4679156" y="2850356"/>
            <a:ext cx="4036219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0606" y="3037880"/>
            <a:ext cx="142875" cy="14287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064919" y="3021806"/>
            <a:ext cx="15696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Quick Actions &amp; Insights</a:t>
            </a:r>
            <a:endParaRPr lang="en-US" sz="885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606" y="3336131"/>
            <a:ext cx="114300" cy="85725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036344" y="3311128"/>
            <a:ext cx="16929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One-click gap remediation guidance</a:t>
            </a:r>
            <a:endParaRPr lang="en-US" sz="727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0606" y="3557588"/>
            <a:ext cx="114300" cy="85725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036344" y="3532584"/>
            <a:ext cx="21822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Automated report generation for stakeholders</a:t>
            </a:r>
            <a:endParaRPr lang="en-US" sz="727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0606" y="3779044"/>
            <a:ext cx="114300" cy="85725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036344" y="3754041"/>
            <a:ext cx="161621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Recent activity feed with audit trail</a:t>
            </a:r>
            <a:endParaRPr lang="en-US" sz="727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606" y="4000500"/>
            <a:ext cx="114300" cy="85725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5036344" y="3975497"/>
            <a:ext cx="20421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Customizable widgets and role-based views</a:t>
            </a:r>
            <a:endParaRPr lang="en-US" sz="727" dirty="0"/>
          </a:p>
        </p:txBody>
      </p:sp>
      <p:sp>
        <p:nvSpPr>
          <p:cNvPr id="48" name="Shape 33"/>
          <p:cNvSpPr/>
          <p:nvPr/>
        </p:nvSpPr>
        <p:spPr>
          <a:xfrm>
            <a:off x="428625" y="4493419"/>
            <a:ext cx="1985963" cy="57150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35881" y="4658618"/>
            <a:ext cx="171450" cy="17145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1010589" y="4887218"/>
            <a:ext cx="8220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Start Gap Analysis</a:t>
            </a:r>
            <a:endParaRPr lang="en-US" sz="634" dirty="0"/>
          </a:p>
        </p:txBody>
      </p:sp>
      <p:sp>
        <p:nvSpPr>
          <p:cNvPr id="51" name="Shape 35"/>
          <p:cNvSpPr/>
          <p:nvPr/>
        </p:nvSpPr>
        <p:spPr>
          <a:xfrm>
            <a:off x="2528888" y="4493419"/>
            <a:ext cx="1985963" cy="57150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14713" y="4658618"/>
            <a:ext cx="214313" cy="171450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3155305" y="4887218"/>
            <a:ext cx="7331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Ask Virtual CISO</a:t>
            </a:r>
            <a:endParaRPr lang="en-US" sz="634" dirty="0"/>
          </a:p>
        </p:txBody>
      </p:sp>
      <p:sp>
        <p:nvSpPr>
          <p:cNvPr id="54" name="Shape 37"/>
          <p:cNvSpPr/>
          <p:nvPr/>
        </p:nvSpPr>
        <p:spPr>
          <a:xfrm>
            <a:off x="4629150" y="4493419"/>
            <a:ext cx="1985963" cy="57150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14975" y="4658618"/>
            <a:ext cx="214313" cy="171450"/>
          </a:xfrm>
          <a:prstGeom prst="rect">
            <a:avLst/>
          </a:prstGeom>
        </p:spPr>
      </p:pic>
      <p:sp>
        <p:nvSpPr>
          <p:cNvPr id="56" name="Text 38"/>
          <p:cNvSpPr/>
          <p:nvPr/>
        </p:nvSpPr>
        <p:spPr>
          <a:xfrm>
            <a:off x="5144532" y="4887218"/>
            <a:ext cx="9551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Manage Integrations</a:t>
            </a:r>
            <a:endParaRPr lang="en-US" sz="634" dirty="0"/>
          </a:p>
        </p:txBody>
      </p:sp>
      <p:sp>
        <p:nvSpPr>
          <p:cNvPr id="57" name="Shape 39"/>
          <p:cNvSpPr/>
          <p:nvPr/>
        </p:nvSpPr>
        <p:spPr>
          <a:xfrm>
            <a:off x="6729413" y="4493419"/>
            <a:ext cx="1985963" cy="57150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58100" y="4658618"/>
            <a:ext cx="128588" cy="171450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7346454" y="4887218"/>
            <a:ext cx="7518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Generate Report</a:t>
            </a:r>
            <a:endParaRPr lang="en-US" sz="6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428625"/>
            <a:ext cx="970350" cy="250031"/>
          </a:xfrm>
          <a:prstGeom prst="roundRect">
            <a:avLst/>
          </a:prstGeom>
          <a:solidFill>
            <a:srgbClr val="05966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503634"/>
            <a:ext cx="100013" cy="100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7213" y="485775"/>
            <a:ext cx="5845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SCENARIO 3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285750" y="792956"/>
            <a:ext cx="3228975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293B"/>
                </a:solidFill>
              </a:rPr>
              <a:t>Gap Analysis &amp; Assessment</a:t>
            </a:r>
            <a:endParaRPr lang="en-US" sz="1808" dirty="0"/>
          </a:p>
        </p:txBody>
      </p:sp>
      <p:sp>
        <p:nvSpPr>
          <p:cNvPr id="8" name="Text 4"/>
          <p:cNvSpPr/>
          <p:nvPr/>
        </p:nvSpPr>
        <p:spPr>
          <a:xfrm>
            <a:off x="285750" y="1495890"/>
            <a:ext cx="3228975" cy="531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AI assessment scans your security posture against NCA requirements, finds gaps, and gives a prioritized remediation roadmap.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285750" y="2113043"/>
            <a:ext cx="32289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Key Features Demonstrated: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285750" y="2345215"/>
            <a:ext cx="171450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3" y="2388077"/>
            <a:ext cx="85725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8638" y="2345215"/>
            <a:ext cx="132873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NCA Control Mapping: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Auto-maps evidence to 65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controls</a:t>
            </a:r>
            <a:endParaRPr lang="en-US" sz="734" dirty="0"/>
          </a:p>
        </p:txBody>
      </p:sp>
      <p:sp>
        <p:nvSpPr>
          <p:cNvPr id="13" name="Shape 8"/>
          <p:cNvSpPr/>
          <p:nvPr/>
        </p:nvSpPr>
        <p:spPr>
          <a:xfrm>
            <a:off x="1943100" y="2345215"/>
            <a:ext cx="171450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963" y="2388077"/>
            <a:ext cx="85725" cy="857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185988" y="2345215"/>
            <a:ext cx="132873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Gap Identification: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Real-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time detection across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domains</a:t>
            </a:r>
            <a:endParaRPr lang="en-US" sz="734" dirty="0"/>
          </a:p>
        </p:txBody>
      </p:sp>
      <p:sp>
        <p:nvSpPr>
          <p:cNvPr id="16" name="Shape 10"/>
          <p:cNvSpPr/>
          <p:nvPr/>
        </p:nvSpPr>
        <p:spPr>
          <a:xfrm>
            <a:off x="285750" y="2852421"/>
            <a:ext cx="171450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3" y="2895284"/>
            <a:ext cx="85725" cy="857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8638" y="2852421"/>
            <a:ext cx="132873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Risk Prioritization: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Rank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gaps by criticality and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impact</a:t>
            </a:r>
            <a:endParaRPr lang="en-US" sz="734" dirty="0"/>
          </a:p>
        </p:txBody>
      </p:sp>
      <p:sp>
        <p:nvSpPr>
          <p:cNvPr id="19" name="Shape 12"/>
          <p:cNvSpPr/>
          <p:nvPr/>
        </p:nvSpPr>
        <p:spPr>
          <a:xfrm>
            <a:off x="1943100" y="2852421"/>
            <a:ext cx="171450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5963" y="2895284"/>
            <a:ext cx="85725" cy="857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85988" y="2852421"/>
            <a:ext cx="132873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Remediation Guidance: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Step-by-step fixes with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effort estimates</a:t>
            </a:r>
            <a:endParaRPr lang="en-US" sz="734" dirty="0"/>
          </a:p>
        </p:txBody>
      </p:sp>
      <p:sp>
        <p:nvSpPr>
          <p:cNvPr id="22" name="Shape 14"/>
          <p:cNvSpPr/>
          <p:nvPr/>
        </p:nvSpPr>
        <p:spPr>
          <a:xfrm>
            <a:off x="285750" y="3359627"/>
            <a:ext cx="171450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613" y="3402490"/>
            <a:ext cx="85725" cy="857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8638" y="3359627"/>
            <a:ext cx="132873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Progress Tracking: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Visual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dashboard for closure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progress</a:t>
            </a:r>
            <a:endParaRPr lang="en-US" sz="734" dirty="0"/>
          </a:p>
        </p:txBody>
      </p:sp>
      <p:sp>
        <p:nvSpPr>
          <p:cNvPr id="25" name="Shape 16"/>
          <p:cNvSpPr/>
          <p:nvPr/>
        </p:nvSpPr>
        <p:spPr>
          <a:xfrm>
            <a:off x="4186238" y="1589484"/>
            <a:ext cx="4286250" cy="23931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6238" y="1589484"/>
            <a:ext cx="4286250" cy="2393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970350" cy="250031"/>
          </a:xfrm>
          <a:prstGeom prst="roundRect">
            <a:avLst/>
          </a:prstGeom>
          <a:solidFill>
            <a:srgbClr val="05966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503634"/>
            <a:ext cx="100013" cy="100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0088" y="485775"/>
            <a:ext cx="5845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SCENARIO 4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428625" y="850106"/>
            <a:ext cx="2943225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293B"/>
                </a:solidFill>
              </a:rPr>
              <a:t>Virtual CISO Interaction</a:t>
            </a:r>
            <a:endParaRPr lang="en-US" sz="1808" dirty="0"/>
          </a:p>
        </p:txBody>
      </p:sp>
      <p:sp>
        <p:nvSpPr>
          <p:cNvPr id="8" name="Text 4"/>
          <p:cNvSpPr/>
          <p:nvPr/>
        </p:nvSpPr>
        <p:spPr>
          <a:xfrm>
            <a:off x="428625" y="1610190"/>
            <a:ext cx="29432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24/7 AI-powered compliance expert trained on 10,000+ Saudi regulatory documents, providing instant guidance in Arabic and English.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428625" y="2373092"/>
            <a:ext cx="29432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Key Features Demonstrated: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428625" y="2676702"/>
            <a:ext cx="171450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2719564"/>
            <a:ext cx="85725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2662414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AI-Powered Guidance: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GPT-4 model fine-tuned on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NCA ECC, PDPL, SAMA frameworks</a:t>
            </a:r>
            <a:endParaRPr lang="en-US" sz="734" dirty="0"/>
          </a:p>
        </p:txBody>
      </p:sp>
      <p:sp>
        <p:nvSpPr>
          <p:cNvPr id="13" name="Shape 8"/>
          <p:cNvSpPr/>
          <p:nvPr/>
        </p:nvSpPr>
        <p:spPr>
          <a:xfrm>
            <a:off x="428625" y="3098183"/>
            <a:ext cx="171450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8" y="3141045"/>
            <a:ext cx="85725" cy="857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3083895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Bilingual Support: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Natural conversation in Arabic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and English with context awareness</a:t>
            </a:r>
            <a:endParaRPr lang="en-US" sz="734" dirty="0"/>
          </a:p>
        </p:txBody>
      </p:sp>
      <p:sp>
        <p:nvSpPr>
          <p:cNvPr id="16" name="Shape 10"/>
          <p:cNvSpPr/>
          <p:nvPr/>
        </p:nvSpPr>
        <p:spPr>
          <a:xfrm>
            <a:off x="428625" y="3519664"/>
            <a:ext cx="171450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8" y="3562527"/>
            <a:ext cx="85725" cy="857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5800" y="3505377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Policy Generation: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Create customized security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policies in 2 minutes based on NCA requirements</a:t>
            </a:r>
            <a:endParaRPr lang="en-US" sz="734" dirty="0"/>
          </a:p>
        </p:txBody>
      </p:sp>
      <p:sp>
        <p:nvSpPr>
          <p:cNvPr id="19" name="Shape 12"/>
          <p:cNvSpPr/>
          <p:nvPr/>
        </p:nvSpPr>
        <p:spPr>
          <a:xfrm>
            <a:off x="428625" y="3941145"/>
            <a:ext cx="171450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8" y="3984008"/>
            <a:ext cx="85725" cy="857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" y="3926858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Gap Remediation: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Step-by-step guidance for closing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compliance gaps with implementation examples</a:t>
            </a:r>
            <a:endParaRPr lang="en-US" sz="734" dirty="0"/>
          </a:p>
        </p:txBody>
      </p:sp>
      <p:sp>
        <p:nvSpPr>
          <p:cNvPr id="22" name="Shape 14"/>
          <p:cNvSpPr/>
          <p:nvPr/>
        </p:nvSpPr>
        <p:spPr>
          <a:xfrm>
            <a:off x="428625" y="4362627"/>
            <a:ext cx="171450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8" y="4405489"/>
            <a:ext cx="85725" cy="857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5800" y="4348339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Control Interpretation: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Detailed explanations of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NCA controls with Saudi-specific context</a:t>
            </a:r>
            <a:endParaRPr lang="en-US" sz="734" dirty="0"/>
          </a:p>
        </p:txBody>
      </p:sp>
      <p:sp>
        <p:nvSpPr>
          <p:cNvPr id="25" name="Shape 16"/>
          <p:cNvSpPr/>
          <p:nvPr/>
        </p:nvSpPr>
        <p:spPr>
          <a:xfrm>
            <a:off x="4186238" y="1589484"/>
            <a:ext cx="4286250" cy="23931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6238" y="1589484"/>
            <a:ext cx="4286250" cy="23931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970350" cy="250031"/>
          </a:xfrm>
          <a:prstGeom prst="roundRect">
            <a:avLst/>
          </a:prstGeom>
          <a:solidFill>
            <a:srgbClr val="05966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503634"/>
            <a:ext cx="100013" cy="100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0088" y="485775"/>
            <a:ext cx="5845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SCENARIO 5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428625" y="850106"/>
            <a:ext cx="2943225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293B"/>
                </a:solidFill>
              </a:rPr>
              <a:t>Cloud Integration Management</a:t>
            </a:r>
            <a:endParaRPr lang="en-US" sz="1808" dirty="0"/>
          </a:p>
        </p:txBody>
      </p:sp>
      <p:sp>
        <p:nvSpPr>
          <p:cNvPr id="8" name="Text 4"/>
          <p:cNvSpPr/>
          <p:nvPr/>
        </p:nvSpPr>
        <p:spPr>
          <a:xfrm>
            <a:off x="428625" y="1610190"/>
            <a:ext cx="29432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Connect to 50+ cloud platforms and security tools for automated evidence collection every 15 minutes, eliminating 80% of manual compliance work.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428625" y="2373092"/>
            <a:ext cx="29432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Key Features Demonstrated: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428625" y="2676702"/>
            <a:ext cx="171450" cy="17145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2719564"/>
            <a:ext cx="85725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2662414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50+ Cloud Integrations: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AWS, Azure, Google Cloud,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Microsoft 365, CrowdStrike, Palo Alto Networks</a:t>
            </a:r>
            <a:endParaRPr lang="en-US" sz="734" dirty="0"/>
          </a:p>
        </p:txBody>
      </p:sp>
      <p:sp>
        <p:nvSpPr>
          <p:cNvPr id="13" name="Shape 8"/>
          <p:cNvSpPr/>
          <p:nvPr/>
        </p:nvSpPr>
        <p:spPr>
          <a:xfrm>
            <a:off x="428625" y="3098183"/>
            <a:ext cx="171450" cy="17145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8" y="3141045"/>
            <a:ext cx="85725" cy="857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3083895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Automated Evidence Collection: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Real-time data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sync every 15 minutes with OAuth 2.0 authentication</a:t>
            </a:r>
            <a:endParaRPr lang="en-US" sz="734" dirty="0"/>
          </a:p>
        </p:txBody>
      </p:sp>
      <p:sp>
        <p:nvSpPr>
          <p:cNvPr id="16" name="Shape 10"/>
          <p:cNvSpPr/>
          <p:nvPr/>
        </p:nvSpPr>
        <p:spPr>
          <a:xfrm>
            <a:off x="428625" y="3519664"/>
            <a:ext cx="171450" cy="17145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8" y="3562527"/>
            <a:ext cx="85725" cy="857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5800" y="3505377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One-Click Setup: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Pre-configured integration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templates with guided configuration wizards</a:t>
            </a:r>
            <a:endParaRPr lang="en-US" sz="734" dirty="0"/>
          </a:p>
        </p:txBody>
      </p:sp>
      <p:sp>
        <p:nvSpPr>
          <p:cNvPr id="19" name="Shape 12"/>
          <p:cNvSpPr/>
          <p:nvPr/>
        </p:nvSpPr>
        <p:spPr>
          <a:xfrm>
            <a:off x="428625" y="3941145"/>
            <a:ext cx="171450" cy="17145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8" y="3984008"/>
            <a:ext cx="85725" cy="857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" y="3926858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Integration Health Monitoring: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Real-time status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tracking with instant alerts for connection issues</a:t>
            </a:r>
            <a:endParaRPr lang="en-US" sz="734" dirty="0"/>
          </a:p>
        </p:txBody>
      </p:sp>
      <p:sp>
        <p:nvSpPr>
          <p:cNvPr id="22" name="Shape 14"/>
          <p:cNvSpPr/>
          <p:nvPr/>
        </p:nvSpPr>
        <p:spPr>
          <a:xfrm>
            <a:off x="428625" y="4362627"/>
            <a:ext cx="171450" cy="17145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8" y="4405489"/>
            <a:ext cx="85725" cy="857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5800" y="4348339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75569"/>
                </a:solidFill>
              </a:rPr>
              <a:t>Custom API Support: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 RESTful API and webhooks for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proprietary tool integrations</a:t>
            </a:r>
            <a:endParaRPr lang="en-US" sz="734" dirty="0"/>
          </a:p>
        </p:txBody>
      </p:sp>
      <p:sp>
        <p:nvSpPr>
          <p:cNvPr id="25" name="Shape 16"/>
          <p:cNvSpPr/>
          <p:nvPr/>
        </p:nvSpPr>
        <p:spPr>
          <a:xfrm>
            <a:off x="4186238" y="1589484"/>
            <a:ext cx="4286250" cy="23931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6238" y="1589484"/>
            <a:ext cx="4286250" cy="23931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983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357188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Key UI/UX Features Demonstrated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Design Principles &amp; User Experience Highlights Across All Scenarios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28625" y="1412677"/>
            <a:ext cx="2705081" cy="1110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2925" y="1526977"/>
            <a:ext cx="400050" cy="40005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64" y="1634133"/>
            <a:ext cx="232172" cy="1857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2925" y="1998464"/>
            <a:ext cx="247648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Bilingual Support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542925" y="2222767"/>
            <a:ext cx="247648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Seamless Arabic and English interface with RTL layout support and culturally adapted content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3219431" y="1412677"/>
            <a:ext cx="2705109" cy="1110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3333731" y="1526977"/>
            <a:ext cx="400050" cy="40005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88" y="1634133"/>
            <a:ext cx="185738" cy="1857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33731" y="1998464"/>
            <a:ext cx="247650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Accessibility First</a:t>
            </a:r>
            <a:endParaRPr lang="en-US" sz="885" dirty="0"/>
          </a:p>
        </p:txBody>
      </p:sp>
      <p:sp>
        <p:nvSpPr>
          <p:cNvPr id="15" name="Text 10"/>
          <p:cNvSpPr/>
          <p:nvPr/>
        </p:nvSpPr>
        <p:spPr>
          <a:xfrm>
            <a:off x="3333731" y="2222767"/>
            <a:ext cx="247650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WCAG 2.1 AA compliant with keyboard navigation, screen reader support, and high contrast modes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6010266" y="1412677"/>
            <a:ext cx="2705081" cy="1110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124566" y="1526977"/>
            <a:ext cx="400050" cy="40005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939" y="1634133"/>
            <a:ext cx="139303" cy="1857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24566" y="1998464"/>
            <a:ext cx="247648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Mobile Responsive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6124566" y="2222767"/>
            <a:ext cx="247648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Fully responsive design optimized for desktop, tablet, and mobile devices with native apps</a:t>
            </a:r>
            <a:endParaRPr lang="en-US" sz="727" dirty="0"/>
          </a:p>
        </p:txBody>
      </p:sp>
      <p:sp>
        <p:nvSpPr>
          <p:cNvPr id="21" name="Shape 15"/>
          <p:cNvSpPr/>
          <p:nvPr/>
        </p:nvSpPr>
        <p:spPr>
          <a:xfrm>
            <a:off x="428625" y="2608529"/>
            <a:ext cx="2705081" cy="1110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542925" y="2722829"/>
            <a:ext cx="400050" cy="40005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73" y="2829985"/>
            <a:ext cx="208955" cy="1857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2925" y="3194317"/>
            <a:ext cx="247648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Real-Time Updates</a:t>
            </a:r>
            <a:endParaRPr lang="en-US" sz="885" dirty="0"/>
          </a:p>
        </p:txBody>
      </p:sp>
      <p:sp>
        <p:nvSpPr>
          <p:cNvPr id="25" name="Text 18"/>
          <p:cNvSpPr/>
          <p:nvPr/>
        </p:nvSpPr>
        <p:spPr>
          <a:xfrm>
            <a:off x="542925" y="3418619"/>
            <a:ext cx="247648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Live compliance score updates every 15 minutes with WebSocket connections for instant notifications</a:t>
            </a:r>
            <a:endParaRPr lang="en-US" sz="727" dirty="0"/>
          </a:p>
        </p:txBody>
      </p:sp>
      <p:sp>
        <p:nvSpPr>
          <p:cNvPr id="26" name="Shape 19"/>
          <p:cNvSpPr/>
          <p:nvPr/>
        </p:nvSpPr>
        <p:spPr>
          <a:xfrm>
            <a:off x="3219431" y="2608529"/>
            <a:ext cx="2705109" cy="1110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0"/>
          <p:cNvSpPr/>
          <p:nvPr/>
        </p:nvSpPr>
        <p:spPr>
          <a:xfrm>
            <a:off x="3333731" y="2722829"/>
            <a:ext cx="400050" cy="40005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888" y="2829985"/>
            <a:ext cx="185738" cy="18573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333731" y="3194317"/>
            <a:ext cx="247650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Consistent Design System</a:t>
            </a:r>
            <a:endParaRPr lang="en-US" sz="885" dirty="0"/>
          </a:p>
        </p:txBody>
      </p:sp>
      <p:sp>
        <p:nvSpPr>
          <p:cNvPr id="30" name="Text 22"/>
          <p:cNvSpPr/>
          <p:nvPr/>
        </p:nvSpPr>
        <p:spPr>
          <a:xfrm>
            <a:off x="3333731" y="3418619"/>
            <a:ext cx="247650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Unified color palette, typography, and spacing following enterprise SaaS best practices</a:t>
            </a:r>
            <a:endParaRPr lang="en-US" sz="727" dirty="0"/>
          </a:p>
        </p:txBody>
      </p:sp>
      <p:sp>
        <p:nvSpPr>
          <p:cNvPr id="31" name="Shape 23"/>
          <p:cNvSpPr/>
          <p:nvPr/>
        </p:nvSpPr>
        <p:spPr>
          <a:xfrm>
            <a:off x="6010266" y="2608529"/>
            <a:ext cx="2705081" cy="1110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4"/>
          <p:cNvSpPr/>
          <p:nvPr/>
        </p:nvSpPr>
        <p:spPr>
          <a:xfrm>
            <a:off x="6124566" y="2722829"/>
            <a:ext cx="400050" cy="40005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1722" y="2829985"/>
            <a:ext cx="185738" cy="18573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124566" y="3194317"/>
            <a:ext cx="247648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Data Visualization</a:t>
            </a:r>
            <a:endParaRPr lang="en-US" sz="885" dirty="0"/>
          </a:p>
        </p:txBody>
      </p:sp>
      <p:sp>
        <p:nvSpPr>
          <p:cNvPr id="35" name="Text 26"/>
          <p:cNvSpPr/>
          <p:nvPr/>
        </p:nvSpPr>
        <p:spPr>
          <a:xfrm>
            <a:off x="6124566" y="3418619"/>
            <a:ext cx="247648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Interactive charts and graphs using D3.js and Chart.js for compliance metrics and trends</a:t>
            </a:r>
            <a:endParaRPr lang="en-US" sz="727" dirty="0"/>
          </a:p>
        </p:txBody>
      </p:sp>
      <p:sp>
        <p:nvSpPr>
          <p:cNvPr id="36" name="Shape 27"/>
          <p:cNvSpPr/>
          <p:nvPr/>
        </p:nvSpPr>
        <p:spPr>
          <a:xfrm>
            <a:off x="428625" y="3804382"/>
            <a:ext cx="2705081" cy="1110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28"/>
          <p:cNvSpPr/>
          <p:nvPr/>
        </p:nvSpPr>
        <p:spPr>
          <a:xfrm>
            <a:off x="542925" y="3918682"/>
            <a:ext cx="400050" cy="40005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64" y="4025838"/>
            <a:ext cx="232172" cy="18573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42925" y="4390169"/>
            <a:ext cx="247648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Role-Based Views</a:t>
            </a:r>
            <a:endParaRPr lang="en-US" sz="885" dirty="0"/>
          </a:p>
        </p:txBody>
      </p:sp>
      <p:sp>
        <p:nvSpPr>
          <p:cNvPr id="40" name="Text 30"/>
          <p:cNvSpPr/>
          <p:nvPr/>
        </p:nvSpPr>
        <p:spPr>
          <a:xfrm>
            <a:off x="542925" y="4614472"/>
            <a:ext cx="247648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Customized dashboards for CISO, compliance officers, executives, and auditors</a:t>
            </a:r>
            <a:endParaRPr lang="en-US" sz="727" dirty="0"/>
          </a:p>
        </p:txBody>
      </p:sp>
      <p:sp>
        <p:nvSpPr>
          <p:cNvPr id="41" name="Shape 31"/>
          <p:cNvSpPr/>
          <p:nvPr/>
        </p:nvSpPr>
        <p:spPr>
          <a:xfrm>
            <a:off x="3219431" y="3804382"/>
            <a:ext cx="2705109" cy="1110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2"/>
          <p:cNvSpPr/>
          <p:nvPr/>
        </p:nvSpPr>
        <p:spPr>
          <a:xfrm>
            <a:off x="3333731" y="3918682"/>
            <a:ext cx="400050" cy="40005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0888" y="4025838"/>
            <a:ext cx="185738" cy="18573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3333731" y="4390169"/>
            <a:ext cx="247650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Security-First Design</a:t>
            </a:r>
            <a:endParaRPr lang="en-US" sz="885" dirty="0"/>
          </a:p>
        </p:txBody>
      </p:sp>
      <p:sp>
        <p:nvSpPr>
          <p:cNvPr id="45" name="Text 34"/>
          <p:cNvSpPr/>
          <p:nvPr/>
        </p:nvSpPr>
        <p:spPr>
          <a:xfrm>
            <a:off x="3333731" y="4614472"/>
            <a:ext cx="247650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Zero-trust architecture with session management, audit trails, and encrypted data transmission</a:t>
            </a:r>
            <a:endParaRPr lang="en-US" sz="727" dirty="0"/>
          </a:p>
        </p:txBody>
      </p:sp>
      <p:sp>
        <p:nvSpPr>
          <p:cNvPr id="46" name="Shape 35"/>
          <p:cNvSpPr/>
          <p:nvPr/>
        </p:nvSpPr>
        <p:spPr>
          <a:xfrm>
            <a:off x="6010266" y="3804382"/>
            <a:ext cx="2705081" cy="1110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36"/>
          <p:cNvSpPr/>
          <p:nvPr/>
        </p:nvSpPr>
        <p:spPr>
          <a:xfrm>
            <a:off x="6124566" y="3918682"/>
            <a:ext cx="400050" cy="40005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4939" y="4025838"/>
            <a:ext cx="139303" cy="18573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6124566" y="4390169"/>
            <a:ext cx="247648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Performance Optimized</a:t>
            </a:r>
            <a:endParaRPr lang="en-US" sz="885" dirty="0"/>
          </a:p>
        </p:txBody>
      </p:sp>
      <p:sp>
        <p:nvSpPr>
          <p:cNvPr id="50" name="Text 38"/>
          <p:cNvSpPr/>
          <p:nvPr/>
        </p:nvSpPr>
        <p:spPr>
          <a:xfrm>
            <a:off x="6124566" y="4614472"/>
            <a:ext cx="247648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Sub-200ms API response times, lazy loading, and optimized asset delivery for fast page loads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126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357188"/>
            <a:ext cx="80010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Development Roadmap &amp; Next Steps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From Prototype to Production: Q2-Q4 2026 Timeline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571500" y="1569839"/>
            <a:ext cx="1871663" cy="22469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742950" y="1698427"/>
            <a:ext cx="342900" cy="3429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742950" y="169842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42950" y="2127052"/>
            <a:ext cx="15287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Prototype Validation</a:t>
            </a:r>
            <a:endParaRPr lang="en-US" sz="987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387798"/>
            <a:ext cx="82153" cy="928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5103" y="2369939"/>
            <a:ext cx="83397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Q2 2026 (4 weeks)</a:t>
            </a:r>
            <a:endParaRPr lang="en-US" sz="634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589609"/>
            <a:ext cx="71438" cy="714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1538" y="2568178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Stakeholder feedback sessions</a:t>
            </a:r>
            <a:endParaRPr lang="en-US" sz="727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912473"/>
            <a:ext cx="71438" cy="714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1538" y="2891042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UI/UX refinement based on input</a:t>
            </a:r>
            <a:endParaRPr lang="en-US" sz="72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235337"/>
            <a:ext cx="71438" cy="714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71538" y="3213906"/>
            <a:ext cx="135287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Technical architecture review</a:t>
            </a:r>
            <a:endParaRPr lang="en-US" sz="727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418201"/>
            <a:ext cx="71438" cy="714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71538" y="3396769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Security audit and compliance check</a:t>
            </a:r>
            <a:endParaRPr lang="en-US" sz="727" dirty="0"/>
          </a:p>
        </p:txBody>
      </p:sp>
      <p:sp>
        <p:nvSpPr>
          <p:cNvPr id="20" name="Shape 12"/>
          <p:cNvSpPr/>
          <p:nvPr/>
        </p:nvSpPr>
        <p:spPr>
          <a:xfrm>
            <a:off x="2614613" y="1569839"/>
            <a:ext cx="1871663" cy="22469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3"/>
          <p:cNvSpPr/>
          <p:nvPr/>
        </p:nvSpPr>
        <p:spPr>
          <a:xfrm>
            <a:off x="2786063" y="1698427"/>
            <a:ext cx="342900" cy="3429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14"/>
          <p:cNvSpPr/>
          <p:nvPr/>
        </p:nvSpPr>
        <p:spPr>
          <a:xfrm>
            <a:off x="2786063" y="169842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</a:t>
            </a:r>
            <a:endParaRPr lang="en-US" sz="987" dirty="0"/>
          </a:p>
        </p:txBody>
      </p:sp>
      <p:sp>
        <p:nvSpPr>
          <p:cNvPr id="23" name="Text 15"/>
          <p:cNvSpPr/>
          <p:nvPr/>
        </p:nvSpPr>
        <p:spPr>
          <a:xfrm>
            <a:off x="2786063" y="2127052"/>
            <a:ext cx="15287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User Testing</a:t>
            </a:r>
            <a:endParaRPr lang="en-US" sz="987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6063" y="2387798"/>
            <a:ext cx="82153" cy="92869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868216" y="2369939"/>
            <a:ext cx="83397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Q2 2026 (6 weeks)</a:t>
            </a:r>
            <a:endParaRPr lang="en-US" sz="634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6063" y="2589609"/>
            <a:ext cx="71438" cy="7143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914650" y="2568178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Beta testing with 10 pilot customers</a:t>
            </a:r>
            <a:endParaRPr lang="en-US" sz="727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6063" y="2912473"/>
            <a:ext cx="71438" cy="7143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2914650" y="2891042"/>
            <a:ext cx="117696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Usability testing sessions</a:t>
            </a:r>
            <a:endParaRPr lang="en-US" sz="727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6063" y="3095337"/>
            <a:ext cx="71438" cy="7143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2914650" y="3073905"/>
            <a:ext cx="139730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Performance and load testing</a:t>
            </a:r>
            <a:endParaRPr lang="en-US" sz="727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6063" y="3278200"/>
            <a:ext cx="71438" cy="7143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2914650" y="3256769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Accessibility compliance validation</a:t>
            </a:r>
            <a:endParaRPr lang="en-US" sz="727" dirty="0"/>
          </a:p>
        </p:txBody>
      </p:sp>
      <p:sp>
        <p:nvSpPr>
          <p:cNvPr id="34" name="Shape 21"/>
          <p:cNvSpPr/>
          <p:nvPr/>
        </p:nvSpPr>
        <p:spPr>
          <a:xfrm>
            <a:off x="4657725" y="1569839"/>
            <a:ext cx="1871663" cy="22469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2"/>
          <p:cNvSpPr/>
          <p:nvPr/>
        </p:nvSpPr>
        <p:spPr>
          <a:xfrm>
            <a:off x="4829175" y="1698427"/>
            <a:ext cx="342900" cy="3429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23"/>
          <p:cNvSpPr/>
          <p:nvPr/>
        </p:nvSpPr>
        <p:spPr>
          <a:xfrm>
            <a:off x="4829175" y="169842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</a:t>
            </a:r>
            <a:endParaRPr lang="en-US" sz="987" dirty="0"/>
          </a:p>
        </p:txBody>
      </p:sp>
      <p:sp>
        <p:nvSpPr>
          <p:cNvPr id="37" name="Text 24"/>
          <p:cNvSpPr/>
          <p:nvPr/>
        </p:nvSpPr>
        <p:spPr>
          <a:xfrm>
            <a:off x="4829175" y="2127052"/>
            <a:ext cx="15287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Development Sprint</a:t>
            </a:r>
            <a:endParaRPr lang="en-US" sz="987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9175" y="2387798"/>
            <a:ext cx="82153" cy="92869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4911328" y="2369939"/>
            <a:ext cx="8871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Q3 2026 (12 weeks)</a:t>
            </a:r>
            <a:endParaRPr lang="en-US" sz="634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9175" y="2589609"/>
            <a:ext cx="71438" cy="7143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4957763" y="2568178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Full-stack implementation (Python/MySQL)</a:t>
            </a:r>
            <a:endParaRPr lang="en-US" sz="727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9175" y="2912473"/>
            <a:ext cx="71438" cy="7143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4957763" y="2891042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AI model training and integration</a:t>
            </a:r>
            <a:endParaRPr lang="en-US" sz="727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9175" y="3235337"/>
            <a:ext cx="71438" cy="71438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4957763" y="3213906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Cloud integrations development</a:t>
            </a:r>
            <a:endParaRPr lang="en-US" sz="727" dirty="0"/>
          </a:p>
        </p:txBody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9175" y="3558201"/>
            <a:ext cx="71438" cy="71438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4957763" y="3536770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Mobile app development (iOS/Android)</a:t>
            </a:r>
            <a:endParaRPr lang="en-US" sz="727" dirty="0"/>
          </a:p>
        </p:txBody>
      </p:sp>
      <p:sp>
        <p:nvSpPr>
          <p:cNvPr id="48" name="Shape 30"/>
          <p:cNvSpPr/>
          <p:nvPr/>
        </p:nvSpPr>
        <p:spPr>
          <a:xfrm>
            <a:off x="6700838" y="1569839"/>
            <a:ext cx="1871663" cy="22469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31"/>
          <p:cNvSpPr/>
          <p:nvPr/>
        </p:nvSpPr>
        <p:spPr>
          <a:xfrm>
            <a:off x="6872288" y="1698427"/>
            <a:ext cx="342900" cy="3429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0" name="Text 32"/>
          <p:cNvSpPr/>
          <p:nvPr/>
        </p:nvSpPr>
        <p:spPr>
          <a:xfrm>
            <a:off x="6872288" y="169842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4</a:t>
            </a:r>
            <a:endParaRPr lang="en-US" sz="987" dirty="0"/>
          </a:p>
        </p:txBody>
      </p:sp>
      <p:sp>
        <p:nvSpPr>
          <p:cNvPr id="51" name="Text 33"/>
          <p:cNvSpPr/>
          <p:nvPr/>
        </p:nvSpPr>
        <p:spPr>
          <a:xfrm>
            <a:off x="6872288" y="2127052"/>
            <a:ext cx="15287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Production Launch</a:t>
            </a:r>
            <a:endParaRPr lang="en-US" sz="987" dirty="0"/>
          </a:p>
        </p:txBody>
      </p:sp>
      <p:pic>
        <p:nvPicPr>
          <p:cNvPr id="5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72288" y="2387798"/>
            <a:ext cx="82153" cy="92869"/>
          </a:xfrm>
          <a:prstGeom prst="rect">
            <a:avLst/>
          </a:prstGeom>
        </p:spPr>
      </p:pic>
      <p:sp>
        <p:nvSpPr>
          <p:cNvPr id="53" name="Text 34"/>
          <p:cNvSpPr/>
          <p:nvPr/>
        </p:nvSpPr>
        <p:spPr>
          <a:xfrm>
            <a:off x="6954441" y="2369939"/>
            <a:ext cx="83397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</a:rPr>
              <a:t>Q4 2026 (4 weeks)</a:t>
            </a:r>
            <a:endParaRPr lang="en-US" sz="634" dirty="0"/>
          </a:p>
        </p:txBody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72288" y="2589609"/>
            <a:ext cx="71438" cy="71438"/>
          </a:xfrm>
          <a:prstGeom prst="rect">
            <a:avLst/>
          </a:prstGeom>
        </p:spPr>
      </p:pic>
      <p:sp>
        <p:nvSpPr>
          <p:cNvPr id="55" name="Text 35"/>
          <p:cNvSpPr/>
          <p:nvPr/>
        </p:nvSpPr>
        <p:spPr>
          <a:xfrm>
            <a:off x="7000875" y="2568178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Infrastructure deployment (AWS/Azure)</a:t>
            </a:r>
            <a:endParaRPr lang="en-US" sz="727" dirty="0"/>
          </a:p>
        </p:txBody>
      </p:sp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72288" y="2912473"/>
            <a:ext cx="71438" cy="71438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7000875" y="2891042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Final security audit and penetration testing</a:t>
            </a:r>
            <a:endParaRPr lang="en-US" sz="727" dirty="0"/>
          </a:p>
        </p:txBody>
      </p:sp>
      <p:pic>
        <p:nvPicPr>
          <p:cNvPr id="5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72288" y="3235337"/>
            <a:ext cx="71438" cy="71438"/>
          </a:xfrm>
          <a:prstGeom prst="rect">
            <a:avLst/>
          </a:prstGeom>
        </p:spPr>
      </p:pic>
      <p:sp>
        <p:nvSpPr>
          <p:cNvPr id="59" name="Text 37"/>
          <p:cNvSpPr/>
          <p:nvPr/>
        </p:nvSpPr>
        <p:spPr>
          <a:xfrm>
            <a:off x="7000875" y="3213906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Go-to-market campaign execution</a:t>
            </a:r>
            <a:endParaRPr lang="en-US" sz="727" dirty="0"/>
          </a:p>
        </p:txBody>
      </p:sp>
      <p:pic>
        <p:nvPicPr>
          <p:cNvPr id="6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72288" y="3558201"/>
            <a:ext cx="71438" cy="71438"/>
          </a:xfrm>
          <a:prstGeom prst="rect">
            <a:avLst/>
          </a:prstGeom>
        </p:spPr>
      </p:pic>
      <p:sp>
        <p:nvSpPr>
          <p:cNvPr id="61" name="Text 38"/>
          <p:cNvSpPr/>
          <p:nvPr/>
        </p:nvSpPr>
        <p:spPr>
          <a:xfrm>
            <a:off x="7000875" y="3536770"/>
            <a:ext cx="14001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75569"/>
                </a:solidFill>
              </a:rPr>
              <a:t>Official launch with 100 customers target</a:t>
            </a:r>
            <a:endParaRPr lang="en-US" sz="727" dirty="0"/>
          </a:p>
        </p:txBody>
      </p:sp>
      <p:sp>
        <p:nvSpPr>
          <p:cNvPr id="62" name="Shape 39"/>
          <p:cNvSpPr/>
          <p:nvPr/>
        </p:nvSpPr>
        <p:spPr>
          <a:xfrm>
            <a:off x="571500" y="4145384"/>
            <a:ext cx="8001000" cy="876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40"/>
          <p:cNvSpPr/>
          <p:nvPr/>
        </p:nvSpPr>
        <p:spPr>
          <a:xfrm>
            <a:off x="800100" y="4259684"/>
            <a:ext cx="13116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Contact Information</a:t>
            </a:r>
            <a:endParaRPr lang="en-US" sz="784" dirty="0"/>
          </a:p>
        </p:txBody>
      </p:sp>
      <p:pic>
        <p:nvPicPr>
          <p:cNvPr id="6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4518645"/>
            <a:ext cx="114300" cy="100013"/>
          </a:xfrm>
          <a:prstGeom prst="rect">
            <a:avLst/>
          </a:prstGeom>
        </p:spPr>
      </p:pic>
      <p:sp>
        <p:nvSpPr>
          <p:cNvPr id="65" name="Text 41"/>
          <p:cNvSpPr/>
          <p:nvPr/>
        </p:nvSpPr>
        <p:spPr>
          <a:xfrm>
            <a:off x="971550" y="4500786"/>
            <a:ext cx="11401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info@cybertrustksa.com</a:t>
            </a:r>
            <a:endParaRPr lang="en-US" sz="727" dirty="0"/>
          </a:p>
        </p:txBody>
      </p:sp>
      <p:pic>
        <p:nvPicPr>
          <p:cNvPr id="6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100" y="4711526"/>
            <a:ext cx="114300" cy="100013"/>
          </a:xfrm>
          <a:prstGeom prst="rect">
            <a:avLst/>
          </a:prstGeom>
        </p:spPr>
      </p:pic>
      <p:sp>
        <p:nvSpPr>
          <p:cNvPr id="67" name="Text 42"/>
          <p:cNvSpPr/>
          <p:nvPr/>
        </p:nvSpPr>
        <p:spPr>
          <a:xfrm>
            <a:off x="971550" y="4693667"/>
            <a:ext cx="8217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+966 11 123 4567</a:t>
            </a:r>
            <a:endParaRPr lang="en-US" sz="727" dirty="0"/>
          </a:p>
        </p:txBody>
      </p:sp>
      <p:pic>
        <p:nvPicPr>
          <p:cNvPr id="6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0100" y="4904408"/>
            <a:ext cx="114300" cy="100013"/>
          </a:xfrm>
          <a:prstGeom prst="rect">
            <a:avLst/>
          </a:prstGeom>
        </p:spPr>
      </p:pic>
      <p:sp>
        <p:nvSpPr>
          <p:cNvPr id="69" name="Text 43"/>
          <p:cNvSpPr/>
          <p:nvPr/>
        </p:nvSpPr>
        <p:spPr>
          <a:xfrm>
            <a:off x="971550" y="4886548"/>
            <a:ext cx="11263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www.cybertrustksa.com</a:t>
            </a:r>
            <a:endParaRPr lang="en-US" sz="727" dirty="0"/>
          </a:p>
        </p:txBody>
      </p:sp>
      <p:sp>
        <p:nvSpPr>
          <p:cNvPr id="70" name="Shape 44"/>
          <p:cNvSpPr/>
          <p:nvPr/>
        </p:nvSpPr>
        <p:spPr>
          <a:xfrm>
            <a:off x="6088596" y="4412382"/>
            <a:ext cx="225530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1" name="Text 45"/>
          <p:cNvSpPr/>
          <p:nvPr/>
        </p:nvSpPr>
        <p:spPr>
          <a:xfrm>
            <a:off x="6288621" y="4521324"/>
            <a:ext cx="18552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Ready to Get Started?</a:t>
            </a:r>
            <a:endParaRPr lang="en-US" sz="784" dirty="0"/>
          </a:p>
        </p:txBody>
      </p:sp>
      <p:sp>
        <p:nvSpPr>
          <p:cNvPr id="72" name="Text 46"/>
          <p:cNvSpPr/>
          <p:nvPr/>
        </p:nvSpPr>
        <p:spPr>
          <a:xfrm>
            <a:off x="6288621" y="4719563"/>
            <a:ext cx="185525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>
                    <a:alpha val="95000"/>
                  </a:srgbClr>
                </a:solidFill>
              </a:rPr>
              <a:t>Schedule a demo or join our beta program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2026-02-21T10:44:20Z</dcterms:created>
  <dcterms:modified xsi:type="dcterms:W3CDTF">2026-02-21T10:44:20Z</dcterms:modified>
</cp:coreProperties>
</file>